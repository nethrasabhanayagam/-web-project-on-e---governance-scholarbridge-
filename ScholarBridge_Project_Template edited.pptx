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70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115" y="5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E0B3DE-400F-4FE0-948D-3CAF1111EBF1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46EF35-3DD2-47B3-8007-D173CA5183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972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4C041-F3E3-4539-80C0-EAE769B71D9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13AF-0D5C-4F7D-A266-C71CD3F8D7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8652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4C041-F3E3-4539-80C0-EAE769B71D9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13AF-0D5C-4F7D-A266-C71CD3F8D7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442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4C041-F3E3-4539-80C0-EAE769B71D9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13AF-0D5C-4F7D-A266-C71CD3F8D7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9994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4C041-F3E3-4539-80C0-EAE769B71D9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13AF-0D5C-4F7D-A266-C71CD3F8D7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6528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4C041-F3E3-4539-80C0-EAE769B71D9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13AF-0D5C-4F7D-A266-C71CD3F8D7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6484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4C041-F3E3-4539-80C0-EAE769B71D9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13AF-0D5C-4F7D-A266-C71CD3F8D7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833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4C041-F3E3-4539-80C0-EAE769B71D9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13AF-0D5C-4F7D-A266-C71CD3F8D7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9414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4C041-F3E3-4539-80C0-EAE769B71D9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13AF-0D5C-4F7D-A266-C71CD3F8D7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1410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4C041-F3E3-4539-80C0-EAE769B71D9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13AF-0D5C-4F7D-A266-C71CD3F8D7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1420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4C041-F3E3-4539-80C0-EAE769B71D9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13AF-0D5C-4F7D-A266-C71CD3F8D7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044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4C041-F3E3-4539-80C0-EAE769B71D9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13AF-0D5C-4F7D-A266-C71CD3F8D7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0397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4C041-F3E3-4539-80C0-EAE769B71D9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413AF-0D5C-4F7D-A266-C71CD3F8D7A4}" type="slidenum">
              <a:rPr lang="en-IN" smtClean="0"/>
              <a:t>‹#›</a:t>
            </a:fld>
            <a:endParaRPr lang="en-IN"/>
          </a:p>
        </p:txBody>
      </p:sp>
      <p:pic>
        <p:nvPicPr>
          <p:cNvPr id="2050" name="Picture 2" descr="https://i.pinimg.com/originals/28/59/ff/2859ffb6a79f7a1ed1408f125fa676e8.pn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9449" y="185738"/>
            <a:ext cx="2171576" cy="728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8233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xmlns="" id="{F9B0E3A4-4393-599D-A492-79EE991894CF}"/>
              </a:ext>
            </a:extLst>
          </p:cNvPr>
          <p:cNvSpPr txBox="1">
            <a:spLocks/>
          </p:cNvSpPr>
          <p:nvPr/>
        </p:nvSpPr>
        <p:spPr>
          <a:xfrm>
            <a:off x="1372998" y="1250000"/>
            <a:ext cx="9144000" cy="15000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6600" b="1" dirty="0">
                <a:solidFill>
                  <a:srgbClr val="0070C0"/>
                </a:solidFill>
              </a:rPr>
              <a:t>SCHOLARBRIDGE</a:t>
            </a:r>
          </a:p>
          <a:p>
            <a:pPr algn="ctr"/>
            <a:r>
              <a:rPr lang="en-IN" sz="2800" b="1" dirty="0">
                <a:solidFill>
                  <a:srgbClr val="0070C0"/>
                </a:solidFill>
              </a:rPr>
              <a:t>Scholarship Finder for Students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A5CD77E1-828C-6A0A-A4C3-DFC75CE81FB4}"/>
              </a:ext>
            </a:extLst>
          </p:cNvPr>
          <p:cNvSpPr txBox="1">
            <a:spLocks/>
          </p:cNvSpPr>
          <p:nvPr/>
        </p:nvSpPr>
        <p:spPr>
          <a:xfrm>
            <a:off x="568494" y="5080000"/>
            <a:ext cx="9448800" cy="13000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000" b="1" dirty="0"/>
              <a:t>Department &amp; Section : </a:t>
            </a:r>
            <a:r>
              <a:rPr lang="en-IN" sz="2000" b="1" dirty="0" smtClean="0"/>
              <a:t>CSE I – ‘D’</a:t>
            </a:r>
            <a:endParaRPr lang="en-IN" sz="2000" b="1" dirty="0"/>
          </a:p>
          <a:p>
            <a:pPr marL="0" indent="0">
              <a:buNone/>
            </a:pPr>
            <a:r>
              <a:rPr lang="en-IN" sz="2000" b="1" dirty="0"/>
              <a:t>Subject Code : 2321CSS103J</a:t>
            </a:r>
          </a:p>
          <a:p>
            <a:pPr marL="0" indent="0">
              <a:buNone/>
            </a:pPr>
            <a:r>
              <a:rPr lang="en-IN" sz="2000" b="1" dirty="0"/>
              <a:t>Subject Name : WEB ESSENTIALS</a:t>
            </a:r>
          </a:p>
        </p:txBody>
      </p:sp>
      <p:sp>
        <p:nvSpPr>
          <p:cNvPr id="201" name="Team Members label"/>
          <p:cNvSpPr txBox="1"/>
          <p:nvPr/>
        </p:nvSpPr>
        <p:spPr>
          <a:xfrm>
            <a:off x="659934" y="2780000"/>
            <a:ext cx="6000000" cy="3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IN" sz="2000" b="1" dirty="0"/>
              <a:t>Team Members :</a:t>
            </a:r>
          </a:p>
        </p:txBody>
      </p:sp>
      <p:graphicFrame>
        <p:nvGraphicFramePr>
          <p:cNvPr id="202" name="Team member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6682223"/>
              </p:ext>
            </p:extLst>
          </p:nvPr>
        </p:nvGraphicFramePr>
        <p:xfrm>
          <a:off x="659934" y="3200000"/>
          <a:ext cx="10800000" cy="1680000"/>
        </p:xfrm>
        <a:graphic>
          <a:graphicData uri="http://schemas.openxmlformats.org/drawingml/2006/table">
            <a:tbl>
              <a:tblPr firstRow="1" bandRow="1"/>
              <a:tblGrid>
                <a:gridCol w="3000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000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r>
                        <a:rPr lang="en-IN" sz="1800" b="1" dirty="0">
                          <a:solidFill>
                            <a:srgbClr val="FFFFFF"/>
                          </a:solidFill>
                        </a:rPr>
                        <a:t>Student Name</a:t>
                      </a:r>
                    </a:p>
                  </a:txBody>
                  <a:tcPr anchor="ctr">
                    <a:lnL w="12700">
                      <a:solidFill>
                        <a:srgbClr val="9FC5E8"/>
                      </a:solidFill>
                    </a:lnL>
                    <a:lnR w="12700">
                      <a:solidFill>
                        <a:srgbClr val="9FC5E8"/>
                      </a:solidFill>
                    </a:lnR>
                    <a:lnT w="12700">
                      <a:solidFill>
                        <a:srgbClr val="9FC5E8"/>
                      </a:solidFill>
                    </a:lnT>
                    <a:lnB w="12700">
                      <a:solidFill>
                        <a:srgbClr val="9FC5E8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solidFill>
                            <a:srgbClr val="FFFFFF"/>
                          </a:solidFill>
                        </a:rPr>
                        <a:t>Register Number</a:t>
                      </a:r>
                    </a:p>
                  </a:txBody>
                  <a:tcPr anchor="ctr">
                    <a:lnL w="12700">
                      <a:solidFill>
                        <a:srgbClr val="9FC5E8"/>
                      </a:solidFill>
                    </a:lnL>
                    <a:lnR w="12700">
                      <a:solidFill>
                        <a:srgbClr val="9FC5E8"/>
                      </a:solidFill>
                    </a:lnR>
                    <a:lnT w="12700">
                      <a:solidFill>
                        <a:srgbClr val="9FC5E8"/>
                      </a:solidFill>
                    </a:lnT>
                    <a:lnB w="12700">
                      <a:solidFill>
                        <a:srgbClr val="9FC5E8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solidFill>
                            <a:srgbClr val="FFFFFF"/>
                          </a:solidFill>
                        </a:rPr>
                        <a:t>Student Name</a:t>
                      </a:r>
                    </a:p>
                  </a:txBody>
                  <a:tcPr anchor="ctr">
                    <a:lnL w="12700">
                      <a:solidFill>
                        <a:srgbClr val="9FC5E8"/>
                      </a:solidFill>
                    </a:lnL>
                    <a:lnR w="12700">
                      <a:solidFill>
                        <a:srgbClr val="9FC5E8"/>
                      </a:solidFill>
                    </a:lnR>
                    <a:lnT w="12700">
                      <a:solidFill>
                        <a:srgbClr val="9FC5E8"/>
                      </a:solidFill>
                    </a:lnT>
                    <a:lnB w="12700">
                      <a:solidFill>
                        <a:srgbClr val="9FC5E8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solidFill>
                            <a:srgbClr val="FFFFFF"/>
                          </a:solidFill>
                        </a:rPr>
                        <a:t>Register Number</a:t>
                      </a:r>
                    </a:p>
                  </a:txBody>
                  <a:tcPr anchor="ctr">
                    <a:lnL w="12700">
                      <a:solidFill>
                        <a:srgbClr val="9FC5E8"/>
                      </a:solidFill>
                    </a:lnL>
                    <a:lnR w="12700">
                      <a:solidFill>
                        <a:srgbClr val="9FC5E8"/>
                      </a:solidFill>
                    </a:lnR>
                    <a:lnT w="12700">
                      <a:solidFill>
                        <a:srgbClr val="9FC5E8"/>
                      </a:solidFill>
                    </a:lnT>
                    <a:lnB w="12700">
                      <a:solidFill>
                        <a:srgbClr val="9FC5E8"/>
                      </a:solidFill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lang="en-US" sz="1800" dirty="0" err="1" smtClean="0">
                          <a:solidFill>
                            <a:srgbClr val="1D2B3A"/>
                          </a:solidFill>
                        </a:rPr>
                        <a:t>Madhur</a:t>
                      </a:r>
                      <a:r>
                        <a:rPr lang="en-US" sz="1800" baseline="0" dirty="0" smtClean="0">
                          <a:solidFill>
                            <a:srgbClr val="1D2B3A"/>
                          </a:solidFill>
                        </a:rPr>
                        <a:t> Sanjay S</a:t>
                      </a:r>
                      <a:endParaRPr lang="en-IN" sz="1800" dirty="0">
                        <a:solidFill>
                          <a:srgbClr val="1D2B3A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rgbClr val="9FC5E8"/>
                      </a:solidFill>
                    </a:lnL>
                    <a:lnR w="12700">
                      <a:solidFill>
                        <a:srgbClr val="9FC5E8"/>
                      </a:solidFill>
                    </a:lnR>
                    <a:lnT w="12700">
                      <a:solidFill>
                        <a:srgbClr val="9FC5E8"/>
                      </a:solidFill>
                    </a:lnT>
                    <a:lnB w="12700">
                      <a:solidFill>
                        <a:srgbClr val="9FC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1D2B3A"/>
                          </a:solidFill>
                        </a:rPr>
                        <a:t>310626104186</a:t>
                      </a:r>
                      <a:endParaRPr lang="en-IN" sz="1800" dirty="0">
                        <a:solidFill>
                          <a:srgbClr val="1D2B3A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rgbClr val="9FC5E8"/>
                      </a:solidFill>
                    </a:lnL>
                    <a:lnR w="12700">
                      <a:solidFill>
                        <a:srgbClr val="9FC5E8"/>
                      </a:solidFill>
                    </a:lnR>
                    <a:lnT w="12700">
                      <a:solidFill>
                        <a:srgbClr val="9FC5E8"/>
                      </a:solidFill>
                    </a:lnT>
                    <a:lnB w="12700">
                      <a:solidFill>
                        <a:srgbClr val="9FC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>
                          <a:solidFill>
                            <a:srgbClr val="1D2B3A"/>
                          </a:solidFill>
                        </a:rPr>
                        <a:t>Nethra</a:t>
                      </a:r>
                      <a:r>
                        <a:rPr lang="en-US" sz="1800" dirty="0" smtClean="0">
                          <a:solidFill>
                            <a:srgbClr val="1D2B3A"/>
                          </a:solidFill>
                        </a:rPr>
                        <a:t> </a:t>
                      </a:r>
                      <a:r>
                        <a:rPr lang="en-US" sz="1800" dirty="0" err="1" smtClean="0">
                          <a:solidFill>
                            <a:srgbClr val="1D2B3A"/>
                          </a:solidFill>
                        </a:rPr>
                        <a:t>Sabhanayagam</a:t>
                      </a:r>
                      <a:endParaRPr lang="en-IN" sz="1800" dirty="0">
                        <a:solidFill>
                          <a:srgbClr val="1D2B3A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rgbClr val="9FC5E8"/>
                      </a:solidFill>
                    </a:lnL>
                    <a:lnR w="12700">
                      <a:solidFill>
                        <a:srgbClr val="9FC5E8"/>
                      </a:solidFill>
                    </a:lnR>
                    <a:lnT w="12700">
                      <a:solidFill>
                        <a:srgbClr val="9FC5E8"/>
                      </a:solidFill>
                    </a:lnT>
                    <a:lnB w="12700">
                      <a:solidFill>
                        <a:srgbClr val="9FC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1D2B3A"/>
                          </a:solidFill>
                        </a:rPr>
                        <a:t>310626104216</a:t>
                      </a:r>
                      <a:endParaRPr lang="en-IN" sz="1800" dirty="0">
                        <a:solidFill>
                          <a:srgbClr val="1D2B3A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rgbClr val="9FC5E8"/>
                      </a:solidFill>
                    </a:lnL>
                    <a:lnR w="12700">
                      <a:solidFill>
                        <a:srgbClr val="9FC5E8"/>
                      </a:solidFill>
                    </a:lnR>
                    <a:lnT w="12700">
                      <a:solidFill>
                        <a:srgbClr val="9FC5E8"/>
                      </a:solidFill>
                    </a:lnT>
                    <a:lnB w="12700">
                      <a:solidFill>
                        <a:srgbClr val="9FC5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lang="en-US" sz="1800" dirty="0" err="1" smtClean="0">
                          <a:solidFill>
                            <a:srgbClr val="1D2B3A"/>
                          </a:solidFill>
                        </a:rPr>
                        <a:t>Mihir</a:t>
                      </a:r>
                      <a:r>
                        <a:rPr lang="en-US" sz="1800" dirty="0" smtClean="0">
                          <a:solidFill>
                            <a:srgbClr val="1D2B3A"/>
                          </a:solidFill>
                        </a:rPr>
                        <a:t> Kiran K</a:t>
                      </a:r>
                      <a:endParaRPr lang="en-IN" sz="1800" dirty="0">
                        <a:solidFill>
                          <a:srgbClr val="1D2B3A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rgbClr val="9FC5E8"/>
                      </a:solidFill>
                    </a:lnL>
                    <a:lnR w="12700">
                      <a:solidFill>
                        <a:srgbClr val="9FC5E8"/>
                      </a:solidFill>
                    </a:lnR>
                    <a:lnT w="12700">
                      <a:solidFill>
                        <a:srgbClr val="9FC5E8"/>
                      </a:solidFill>
                    </a:lnT>
                    <a:lnB w="12700">
                      <a:solidFill>
                        <a:srgbClr val="9FC5E8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1D2B3A"/>
                          </a:solidFill>
                        </a:rPr>
                        <a:t>310626104196</a:t>
                      </a:r>
                      <a:endParaRPr lang="en-IN" sz="1800" dirty="0">
                        <a:solidFill>
                          <a:srgbClr val="1D2B3A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rgbClr val="9FC5E8"/>
                      </a:solidFill>
                    </a:lnL>
                    <a:lnR w="12700">
                      <a:solidFill>
                        <a:srgbClr val="9FC5E8"/>
                      </a:solidFill>
                    </a:lnR>
                    <a:lnT w="12700">
                      <a:solidFill>
                        <a:srgbClr val="9FC5E8"/>
                      </a:solidFill>
                    </a:lnT>
                    <a:lnB w="12700">
                      <a:solidFill>
                        <a:srgbClr val="9FC5E8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>
                          <a:solidFill>
                            <a:srgbClr val="1D2B3A"/>
                          </a:solidFill>
                        </a:rPr>
                        <a:t>Nishandhan</a:t>
                      </a:r>
                      <a:r>
                        <a:rPr lang="en-US" sz="1800" dirty="0" smtClean="0">
                          <a:solidFill>
                            <a:srgbClr val="1D2B3A"/>
                          </a:solidFill>
                        </a:rPr>
                        <a:t> P S</a:t>
                      </a:r>
                      <a:endParaRPr lang="en-IN" sz="1800" dirty="0">
                        <a:solidFill>
                          <a:srgbClr val="1D2B3A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rgbClr val="9FC5E8"/>
                      </a:solidFill>
                    </a:lnL>
                    <a:lnR w="12700">
                      <a:solidFill>
                        <a:srgbClr val="9FC5E8"/>
                      </a:solidFill>
                    </a:lnR>
                    <a:lnT w="12700">
                      <a:solidFill>
                        <a:srgbClr val="9FC5E8"/>
                      </a:solidFill>
                    </a:lnT>
                    <a:lnB w="12700">
                      <a:solidFill>
                        <a:srgbClr val="9FC5E8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1D2B3A"/>
                          </a:solidFill>
                        </a:rPr>
                        <a:t>310626104226</a:t>
                      </a:r>
                      <a:endParaRPr lang="en-IN" sz="1800" dirty="0">
                        <a:solidFill>
                          <a:srgbClr val="1D2B3A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rgbClr val="9FC5E8"/>
                      </a:solidFill>
                    </a:lnL>
                    <a:lnR w="12700">
                      <a:solidFill>
                        <a:srgbClr val="9FC5E8"/>
                      </a:solidFill>
                    </a:lnR>
                    <a:lnT w="12700">
                      <a:solidFill>
                        <a:srgbClr val="9FC5E8"/>
                      </a:solidFill>
                    </a:lnT>
                    <a:lnB w="12700">
                      <a:solidFill>
                        <a:srgbClr val="9FC5E8"/>
                      </a:solidFill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lang="en-US" sz="1800" dirty="0" err="1" smtClean="0">
                          <a:solidFill>
                            <a:srgbClr val="1D2B3A"/>
                          </a:solidFill>
                        </a:rPr>
                        <a:t>Monisha</a:t>
                      </a:r>
                      <a:r>
                        <a:rPr lang="en-US" sz="1800" dirty="0" smtClean="0">
                          <a:solidFill>
                            <a:srgbClr val="1D2B3A"/>
                          </a:solidFill>
                        </a:rPr>
                        <a:t> Bobby J</a:t>
                      </a:r>
                      <a:endParaRPr lang="en-IN" sz="1800" dirty="0">
                        <a:solidFill>
                          <a:srgbClr val="1D2B3A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rgbClr val="9FC5E8"/>
                      </a:solidFill>
                    </a:lnL>
                    <a:lnR w="12700">
                      <a:solidFill>
                        <a:srgbClr val="9FC5E8"/>
                      </a:solidFill>
                    </a:lnR>
                    <a:lnT w="12700">
                      <a:solidFill>
                        <a:srgbClr val="9FC5E8"/>
                      </a:solidFill>
                    </a:lnT>
                    <a:lnB w="12700">
                      <a:solidFill>
                        <a:srgbClr val="9FC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1D2B3A"/>
                          </a:solidFill>
                        </a:rPr>
                        <a:t>310626104206</a:t>
                      </a:r>
                      <a:endParaRPr lang="en-IN" sz="1800" dirty="0">
                        <a:solidFill>
                          <a:srgbClr val="1D2B3A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rgbClr val="9FC5E8"/>
                      </a:solidFill>
                    </a:lnL>
                    <a:lnR w="12700">
                      <a:solidFill>
                        <a:srgbClr val="9FC5E8"/>
                      </a:solidFill>
                    </a:lnR>
                    <a:lnT w="12700">
                      <a:solidFill>
                        <a:srgbClr val="9FC5E8"/>
                      </a:solidFill>
                    </a:lnT>
                    <a:lnB w="12700">
                      <a:solidFill>
                        <a:srgbClr val="9FC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1D2B3A"/>
                          </a:solidFill>
                        </a:rPr>
                        <a:t>Pooja S</a:t>
                      </a:r>
                      <a:endParaRPr lang="en-IN" sz="1800" dirty="0">
                        <a:solidFill>
                          <a:srgbClr val="1D2B3A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rgbClr val="9FC5E8"/>
                      </a:solidFill>
                    </a:lnL>
                    <a:lnR w="12700">
                      <a:solidFill>
                        <a:srgbClr val="9FC5E8"/>
                      </a:solidFill>
                    </a:lnR>
                    <a:lnT w="12700">
                      <a:solidFill>
                        <a:srgbClr val="9FC5E8"/>
                      </a:solidFill>
                    </a:lnT>
                    <a:lnB w="12700">
                      <a:solidFill>
                        <a:srgbClr val="9FC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1D2B3A"/>
                          </a:solidFill>
                        </a:rPr>
                        <a:t>310626104236</a:t>
                      </a:r>
                      <a:endParaRPr lang="en-IN" sz="1800" dirty="0">
                        <a:solidFill>
                          <a:srgbClr val="1D2B3A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rgbClr val="9FC5E8"/>
                      </a:solidFill>
                    </a:lnL>
                    <a:lnR w="12700">
                      <a:solidFill>
                        <a:srgbClr val="9FC5E8"/>
                      </a:solidFill>
                    </a:lnR>
                    <a:lnT w="12700">
                      <a:solidFill>
                        <a:srgbClr val="9FC5E8"/>
                      </a:solidFill>
                    </a:lnT>
                    <a:lnB w="12700">
                      <a:solidFill>
                        <a:srgbClr val="9FC5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4228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58D4AD4-1212-4DF4-9D5F-ECF80CFD813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8935192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>
                <a:solidFill>
                  <a:srgbClr val="0070C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Table of contents</a:t>
            </a:r>
            <a:endParaRPr lang="en-IN" dirty="0">
              <a:solidFill>
                <a:srgbClr val="0070C0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670FD68-85B5-46AC-12D7-506E525E2821}"/>
              </a:ext>
            </a:extLst>
          </p:cNvPr>
          <p:cNvSpPr txBox="1">
            <a:spLocks/>
          </p:cNvSpPr>
          <p:nvPr/>
        </p:nvSpPr>
        <p:spPr>
          <a:xfrm>
            <a:off x="838200" y="1520825"/>
            <a:ext cx="9540834" cy="435133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dirty="0"/>
              <a:t>Objective / Project Goal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Proposed Solution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Tools &amp; Techniques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Workflow / Architecture Diagram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Expected Outcomes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Real-world Applications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Challenges Faced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Results / Demo Screenshots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Future Scope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Team Contributions</a:t>
            </a:r>
          </a:p>
        </p:txBody>
      </p:sp>
    </p:spTree>
    <p:extLst>
      <p:ext uri="{BB962C8B-B14F-4D97-AF65-F5344CB8AC3E}">
        <p14:creationId xmlns:p14="http://schemas.microsoft.com/office/powerpoint/2010/main" val="381629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E73C605-246E-DCBA-50A8-F968C4CCA97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8935192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>
                <a:solidFill>
                  <a:srgbClr val="0070C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Objective / Project Goal</a:t>
            </a:r>
            <a:endParaRPr lang="en-IN" dirty="0">
              <a:solidFill>
                <a:srgbClr val="0070C0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C4A5548-8BFE-BF64-4750-FA067BBCCF42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9540834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600" b="1" dirty="0">
                <a:solidFill>
                  <a:srgbClr val="0070C0"/>
                </a:solidFill>
              </a:rPr>
              <a:t>Goal: </a:t>
            </a:r>
            <a:r>
              <a:rPr lang="en-IN" sz="2600" dirty="0"/>
              <a:t>help students find scholarships easily in one place.</a:t>
            </a:r>
          </a:p>
          <a:p>
            <a:r>
              <a:rPr lang="en-IN" sz="2600" dirty="0"/>
              <a:t>Show the scholarship name, provider, amount, level and category on simple cards.</a:t>
            </a:r>
          </a:p>
          <a:p>
            <a:r>
              <a:rPr lang="en-IN" sz="2600" b="1" dirty="0">
                <a:solidFill>
                  <a:srgbClr val="0070C0"/>
                </a:solidFill>
              </a:rPr>
              <a:t>Objectives:</a:t>
            </a:r>
          </a:p>
          <a:p>
            <a:pPr lvl="1"/>
            <a:r>
              <a:rPr lang="en-IN" sz="2200" dirty="0"/>
              <a:t>Search and filter by education level and category.</a:t>
            </a:r>
          </a:p>
          <a:p>
            <a:pPr lvl="1"/>
            <a:r>
              <a:rPr lang="en-IN" sz="2200" dirty="0"/>
              <a:t>Suggest matching options with the eligibility finder.</a:t>
            </a:r>
          </a:p>
          <a:p>
            <a:pPr lvl="1"/>
            <a:r>
              <a:rPr lang="en-IN" sz="2200" dirty="0"/>
              <a:t>Guide students to official portals and deadline reminders.</a:t>
            </a:r>
          </a:p>
        </p:txBody>
      </p:sp>
    </p:spTree>
    <p:extLst>
      <p:ext uri="{BB962C8B-B14F-4D97-AF65-F5344CB8AC3E}">
        <p14:creationId xmlns:p14="http://schemas.microsoft.com/office/powerpoint/2010/main" val="2811096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EA65CBD-565A-FAB8-0B01-5466BBFDA6A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8935192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rgbClr val="0070C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Proposed Solution</a:t>
            </a:r>
            <a:endParaRPr lang="en-IN" dirty="0">
              <a:solidFill>
                <a:srgbClr val="0070C0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66E7FC6-78D1-39A4-C5D2-51CC17B6EC36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9540834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600" b="1" dirty="0">
                <a:solidFill>
                  <a:srgbClr val="0070C0"/>
                </a:solidFill>
              </a:rPr>
              <a:t>Solution: </a:t>
            </a:r>
            <a:r>
              <a:rPr lang="en-IN" sz="2600" dirty="0"/>
              <a:t>ScholarBridge, a student-friendly scholarship finder webpage.</a:t>
            </a:r>
          </a:p>
          <a:p>
            <a:r>
              <a:rPr lang="en-IN" sz="2600" b="1" dirty="0">
                <a:solidFill>
                  <a:srgbClr val="0070C0"/>
                </a:solidFill>
              </a:rPr>
              <a:t>Input: </a:t>
            </a:r>
            <a:r>
              <a:rPr lang="en-IN" sz="2600" dirty="0"/>
              <a:t>a keyword in the search box, or a study level and category.</a:t>
            </a:r>
          </a:p>
          <a:p>
            <a:r>
              <a:rPr lang="en-IN" sz="2600" b="1" dirty="0">
                <a:solidFill>
                  <a:srgbClr val="0070C0"/>
                </a:solidFill>
              </a:rPr>
              <a:t>Process: </a:t>
            </a:r>
            <a:r>
              <a:rPr lang="en-IN" sz="2600" dirty="0"/>
              <a:t>JavaScript checks every scholarship card and keeps only the matches.</a:t>
            </a:r>
          </a:p>
          <a:p>
            <a:r>
              <a:rPr lang="en-IN" sz="2600" b="1" dirty="0">
                <a:solidFill>
                  <a:srgbClr val="0070C0"/>
                </a:solidFill>
              </a:rPr>
              <a:t>Output: </a:t>
            </a:r>
            <a:r>
              <a:rPr lang="en-IN" sz="2600" dirty="0"/>
              <a:t>matching cards with provider, amount, deadline tip, an official link and a result count.</a:t>
            </a:r>
          </a:p>
        </p:txBody>
      </p:sp>
    </p:spTree>
    <p:extLst>
      <p:ext uri="{BB962C8B-B14F-4D97-AF65-F5344CB8AC3E}">
        <p14:creationId xmlns:p14="http://schemas.microsoft.com/office/powerpoint/2010/main" val="2313110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E5CDCF7-EEE1-417C-8ED7-E02A9EE94F8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8935192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rgbClr val="0070C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Tools &amp; Techniques</a:t>
            </a:r>
            <a:endParaRPr lang="en-IN" dirty="0">
              <a:solidFill>
                <a:srgbClr val="0070C0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BFF48D-3C67-BCFF-7CB1-C1B107619CEE}"/>
              </a:ext>
            </a:extLst>
          </p:cNvPr>
          <p:cNvSpPr txBox="1">
            <a:spLocks/>
          </p:cNvSpPr>
          <p:nvPr/>
        </p:nvSpPr>
        <p:spPr>
          <a:xfrm>
            <a:off x="838200" y="1750000"/>
            <a:ext cx="5200000" cy="330000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 w="19050">
            <a:solidFill>
              <a:srgbClr val="0070C0"/>
            </a:solidFill>
          </a:ln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600" b="1" dirty="0">
                <a:solidFill>
                  <a:srgbClr val="0070C0"/>
                </a:solidFill>
              </a:rPr>
              <a:t>Tools / Platforms Used</a:t>
            </a:r>
          </a:p>
          <a:p>
            <a:pPr>
              <a:spcBef>
                <a:spcPts val="1000"/>
              </a:spcBef>
            </a:pPr>
            <a:r>
              <a:rPr lang="en-IN" sz="2200" dirty="0"/>
              <a:t>Code editor (such as VS Code)</a:t>
            </a:r>
          </a:p>
          <a:p>
            <a:r>
              <a:rPr lang="en-IN" sz="2200" dirty="0"/>
              <a:t>Web browser (Chrome / Edge) to test the page</a:t>
            </a:r>
          </a:p>
          <a:p>
            <a:r>
              <a:rPr lang="en-IN" sz="2200" dirty="0"/>
              <a:t>National Scholarship Portal for official links</a:t>
            </a:r>
          </a:p>
        </p:txBody>
      </p:sp>
      <p:sp>
        <p:nvSpPr>
          <p:cNvPr id="203" name="Programming languages card"/>
          <p:cNvSpPr/>
          <p:nvPr/>
        </p:nvSpPr>
        <p:spPr>
          <a:xfrm>
            <a:off x="6300000" y="1750000"/>
            <a:ext cx="5200000" cy="330000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 w="19050">
            <a:solidFill>
              <a:srgbClr val="0070C0"/>
            </a:solidFill>
          </a:ln>
        </p:spPr>
        <p:txBody>
          <a:bodyPr wrap="square" lIns="182880" tIns="91440" rIns="182880" bIns="91440" rtlCol="0" anchor="t">
            <a:normAutofit/>
          </a:bodyPr>
          <a:lstStyle/>
          <a:p>
            <a:pPr marL="0" indent="0">
              <a:buNone/>
            </a:pPr>
            <a:r>
              <a:rPr lang="en-IN" sz="2600" b="1" dirty="0">
                <a:solidFill>
                  <a:srgbClr val="0070C0"/>
                </a:solidFill>
              </a:rPr>
              <a:t>Programming Languages</a:t>
            </a: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en-IN" sz="2200" b="1" dirty="0"/>
              <a:t>HTML5: </a:t>
            </a:r>
            <a:r>
              <a:rPr lang="en-IN" sz="2200" dirty="0"/>
              <a:t>header, nav, section, article, form</a:t>
            </a:r>
          </a:p>
          <a:p>
            <a:pPr marL="285750" indent="-285750">
              <a:buFont typeface="Arial"/>
              <a:buChar char="•"/>
            </a:pPr>
            <a:r>
              <a:rPr lang="en-IN" sz="2200" b="1" dirty="0"/>
              <a:t>CSS3: </a:t>
            </a:r>
            <a:r>
              <a:rPr lang="en-IN" sz="2200" dirty="0"/>
              <a:t>Grid, Flexbox, variables, media queries</a:t>
            </a:r>
          </a:p>
          <a:p>
            <a:pPr marL="285750" indent="-285750">
              <a:buFont typeface="Arial"/>
              <a:buChar char="•"/>
            </a:pPr>
            <a:r>
              <a:rPr lang="en-IN" sz="2200" b="1" dirty="0"/>
              <a:t>JavaScript: </a:t>
            </a:r>
            <a:r>
              <a:rPr lang="en-IN" sz="2200" dirty="0"/>
              <a:t>search, filters, Save button, form events</a:t>
            </a:r>
          </a:p>
        </p:txBody>
      </p:sp>
    </p:spTree>
    <p:extLst>
      <p:ext uri="{BB962C8B-B14F-4D97-AF65-F5344CB8AC3E}">
        <p14:creationId xmlns:p14="http://schemas.microsoft.com/office/powerpoint/2010/main" val="2465163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3B6A787-B1E9-694B-7C77-2F6FE78AD26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8935192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>
                <a:solidFill>
                  <a:srgbClr val="0070C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Workflow / Architecture Diagram</a:t>
            </a:r>
            <a:endParaRPr lang="en-IN" b="1" dirty="0">
              <a:solidFill>
                <a:srgbClr val="0070C0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8B4D55E-C3B6-3330-C9CE-5AE8FD5092A8}"/>
              </a:ext>
            </a:extLst>
          </p:cNvPr>
          <p:cNvSpPr txBox="1">
            <a:spLocks/>
          </p:cNvSpPr>
          <p:nvPr/>
        </p:nvSpPr>
        <p:spPr>
          <a:xfrm>
            <a:off x="838200" y="1750000"/>
            <a:ext cx="9540834" cy="5000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rgbClr val="0070C0"/>
                </a:solidFill>
              </a:rPr>
              <a:t>Input → Processing → Output</a:t>
            </a:r>
          </a:p>
        </p:txBody>
      </p:sp>
      <p:sp>
        <p:nvSpPr>
          <p:cNvPr id="204" name="Input box"/>
          <p:cNvSpPr/>
          <p:nvPr/>
        </p:nvSpPr>
        <p:spPr>
          <a:xfrm>
            <a:off x="838200" y="2350000"/>
            <a:ext cx="2900000" cy="165000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IN" sz="2200" b="1" dirty="0">
                <a:solidFill>
                  <a:srgbClr val="FFFFFF"/>
                </a:solidFill>
              </a:rPr>
              <a:t>INPUT</a:t>
            </a:r>
          </a:p>
          <a:p>
            <a:pPr marL="0" indent="0" algn="ctr">
              <a:spcBef>
                <a:spcPts val="400"/>
              </a:spcBef>
              <a:buNone/>
            </a:pPr>
            <a:r>
              <a:rPr lang="en-IN" sz="1800" dirty="0">
                <a:solidFill>
                  <a:srgbClr val="FFFFFF"/>
                </a:solidFill>
              </a:rPr>
              <a:t>Search text</a:t>
            </a:r>
          </a:p>
          <a:p>
            <a:pPr marL="0" indent="0" algn="ctr">
              <a:spcBef>
                <a:spcPts val="400"/>
              </a:spcBef>
              <a:buNone/>
            </a:pPr>
            <a:r>
              <a:rPr lang="en-IN" sz="1800" dirty="0">
                <a:solidFill>
                  <a:srgbClr val="FFFFFF"/>
                </a:solidFill>
              </a:rPr>
              <a:t>Study level</a:t>
            </a:r>
          </a:p>
          <a:p>
            <a:pPr marL="0" indent="0" algn="ctr">
              <a:spcBef>
                <a:spcPts val="400"/>
              </a:spcBef>
              <a:buNone/>
            </a:pPr>
            <a:r>
              <a:rPr lang="en-IN" sz="1800" dirty="0">
                <a:solidFill>
                  <a:srgbClr val="FFFFFF"/>
                </a:solidFill>
              </a:rPr>
              <a:t>Category / priority</a:t>
            </a:r>
          </a:p>
        </p:txBody>
      </p:sp>
      <p:sp>
        <p:nvSpPr>
          <p:cNvPr id="205" name="Arrow 1"/>
          <p:cNvSpPr/>
          <p:nvPr/>
        </p:nvSpPr>
        <p:spPr>
          <a:xfrm>
            <a:off x="3820000" y="2950000"/>
            <a:ext cx="500000" cy="450000"/>
          </a:xfrm>
          <a:prstGeom prst="rightArrow">
            <a:avLst/>
          </a:prstGeom>
          <a:solidFill>
            <a:srgbClr val="F4B183"/>
          </a:solidFill>
          <a:ln>
            <a:noFill/>
          </a:ln>
        </p:spPr>
        <p:txBody>
          <a:bodyPr wrap="square" lIns="91440" tIns="45720" rIns="91440" bIns="45720" rtlCol="0" anchor="ctr">
            <a:normAutofit fontScale="55000" lnSpcReduction="20000"/>
          </a:bodyPr>
          <a:lstStyle/>
          <a:p>
            <a:endParaRPr lang="en-IN"/>
          </a:p>
        </p:txBody>
      </p:sp>
      <p:sp>
        <p:nvSpPr>
          <p:cNvPr id="206" name="Processing box"/>
          <p:cNvSpPr/>
          <p:nvPr/>
        </p:nvSpPr>
        <p:spPr>
          <a:xfrm>
            <a:off x="4400000" y="2350000"/>
            <a:ext cx="2900000" cy="165000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IN" sz="2200" b="1" dirty="0">
                <a:solidFill>
                  <a:srgbClr val="FFFFFF"/>
                </a:solidFill>
              </a:rPr>
              <a:t>PROCESSING</a:t>
            </a:r>
          </a:p>
          <a:p>
            <a:pPr marL="0" indent="0" algn="ctr">
              <a:spcBef>
                <a:spcPts val="400"/>
              </a:spcBef>
              <a:buNone/>
            </a:pPr>
            <a:r>
              <a:rPr lang="en-IN" sz="1800" dirty="0">
                <a:solidFill>
                  <a:srgbClr val="FFFFFF"/>
                </a:solidFill>
              </a:rPr>
              <a:t>JavaScript filterCards()</a:t>
            </a:r>
          </a:p>
          <a:p>
            <a:pPr marL="0" indent="0" algn="ctr">
              <a:spcBef>
                <a:spcPts val="400"/>
              </a:spcBef>
              <a:buNone/>
            </a:pPr>
            <a:r>
              <a:rPr lang="en-IN" sz="1800" dirty="0">
                <a:solidFill>
                  <a:srgbClr val="FFFFFF"/>
                </a:solidFill>
              </a:rPr>
              <a:t>Checks title, level, category</a:t>
            </a:r>
          </a:p>
          <a:p>
            <a:pPr marL="0" indent="0" algn="ctr">
              <a:spcBef>
                <a:spcPts val="400"/>
              </a:spcBef>
              <a:buNone/>
            </a:pPr>
            <a:r>
              <a:rPr lang="en-IN" sz="1800" dirty="0">
                <a:solidFill>
                  <a:srgbClr val="FFFFFF"/>
                </a:solidFill>
              </a:rPr>
              <a:t>Updates the count</a:t>
            </a:r>
          </a:p>
        </p:txBody>
      </p:sp>
      <p:sp>
        <p:nvSpPr>
          <p:cNvPr id="207" name="Arrow 2"/>
          <p:cNvSpPr/>
          <p:nvPr/>
        </p:nvSpPr>
        <p:spPr>
          <a:xfrm>
            <a:off x="7382000" y="2950000"/>
            <a:ext cx="500000" cy="450000"/>
          </a:xfrm>
          <a:prstGeom prst="rightArrow">
            <a:avLst/>
          </a:prstGeom>
          <a:solidFill>
            <a:srgbClr val="F4B183"/>
          </a:solidFill>
          <a:ln>
            <a:noFill/>
          </a:ln>
        </p:spPr>
        <p:txBody>
          <a:bodyPr wrap="square" lIns="91440" tIns="45720" rIns="91440" bIns="45720" rtlCol="0" anchor="ctr">
            <a:normAutofit fontScale="55000" lnSpcReduction="20000"/>
          </a:bodyPr>
          <a:lstStyle/>
          <a:p>
            <a:endParaRPr lang="en-IN"/>
          </a:p>
        </p:txBody>
      </p:sp>
      <p:sp>
        <p:nvSpPr>
          <p:cNvPr id="208" name="Output box"/>
          <p:cNvSpPr/>
          <p:nvPr/>
        </p:nvSpPr>
        <p:spPr>
          <a:xfrm>
            <a:off x="7960000" y="2350000"/>
            <a:ext cx="2900000" cy="165000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IN" sz="2200" b="1" dirty="0">
                <a:solidFill>
                  <a:srgbClr val="FFFFFF"/>
                </a:solidFill>
              </a:rPr>
              <a:t>OUTPUT</a:t>
            </a:r>
          </a:p>
          <a:p>
            <a:pPr marL="0" indent="0" algn="ctr">
              <a:spcBef>
                <a:spcPts val="400"/>
              </a:spcBef>
              <a:buNone/>
            </a:pPr>
            <a:r>
              <a:rPr lang="en-IN" sz="1800" dirty="0">
                <a:solidFill>
                  <a:srgbClr val="FFFFFF"/>
                </a:solidFill>
              </a:rPr>
              <a:t>Matching scholarship cards</a:t>
            </a:r>
          </a:p>
          <a:p>
            <a:pPr marL="0" indent="0" algn="ctr">
              <a:spcBef>
                <a:spcPts val="400"/>
              </a:spcBef>
              <a:buNone/>
            </a:pPr>
            <a:r>
              <a:rPr lang="en-IN" sz="1800" dirty="0">
                <a:solidFill>
                  <a:srgbClr val="FFFFFF"/>
                </a:solidFill>
              </a:rPr>
              <a:t>Result count</a:t>
            </a:r>
          </a:p>
          <a:p>
            <a:pPr marL="0" indent="0" algn="ctr">
              <a:spcBef>
                <a:spcPts val="400"/>
              </a:spcBef>
              <a:buNone/>
            </a:pPr>
            <a:r>
              <a:rPr lang="en-IN" sz="1800" dirty="0">
                <a:solidFill>
                  <a:srgbClr val="FFFFFF"/>
                </a:solidFill>
              </a:rPr>
              <a:t>Official portal links</a:t>
            </a:r>
          </a:p>
        </p:txBody>
      </p:sp>
      <p:sp>
        <p:nvSpPr>
          <p:cNvPr id="209" name="Modules label"/>
          <p:cNvSpPr txBox="1"/>
          <p:nvPr/>
        </p:nvSpPr>
        <p:spPr>
          <a:xfrm>
            <a:off x="838200" y="4200000"/>
            <a:ext cx="9000000" cy="3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rgbClr val="0070C0"/>
                </a:solidFill>
              </a:rPr>
              <a:t>Main modules of the page :</a:t>
            </a:r>
          </a:p>
        </p:txBody>
      </p:sp>
      <p:sp>
        <p:nvSpPr>
          <p:cNvPr id="210" name="Module 1"/>
          <p:cNvSpPr/>
          <p:nvPr/>
        </p:nvSpPr>
        <p:spPr>
          <a:xfrm>
            <a:off x="838200" y="4650000"/>
            <a:ext cx="2400000" cy="500000"/>
          </a:xfrm>
          <a:prstGeom prst="roundRect">
            <a:avLst>
              <a:gd name="adj" fmla="val 30000"/>
            </a:avLst>
          </a:prstGeom>
          <a:solidFill>
            <a:srgbClr val="EAF3FB"/>
          </a:solidFill>
          <a:ln w="19050">
            <a:solidFill>
              <a:srgbClr val="0070C0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IN" sz="1600" dirty="0">
                <a:solidFill>
                  <a:srgbClr val="0070C0"/>
                </a:solidFill>
              </a:rPr>
              <a:t>Navigation bar</a:t>
            </a:r>
          </a:p>
        </p:txBody>
      </p:sp>
      <p:sp>
        <p:nvSpPr>
          <p:cNvPr id="211" name="Module 2"/>
          <p:cNvSpPr/>
          <p:nvPr/>
        </p:nvSpPr>
        <p:spPr>
          <a:xfrm>
            <a:off x="3438200" y="4650000"/>
            <a:ext cx="2400000" cy="500000"/>
          </a:xfrm>
          <a:prstGeom prst="roundRect">
            <a:avLst>
              <a:gd name="adj" fmla="val 30000"/>
            </a:avLst>
          </a:prstGeom>
          <a:solidFill>
            <a:srgbClr val="EAF3FB"/>
          </a:solidFill>
          <a:ln w="19050">
            <a:solidFill>
              <a:srgbClr val="0070C0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IN" sz="1600" dirty="0">
                <a:solidFill>
                  <a:srgbClr val="0070C0"/>
                </a:solidFill>
              </a:rPr>
              <a:t>Hero section</a:t>
            </a:r>
          </a:p>
        </p:txBody>
      </p:sp>
      <p:sp>
        <p:nvSpPr>
          <p:cNvPr id="212" name="Module 3"/>
          <p:cNvSpPr/>
          <p:nvPr/>
        </p:nvSpPr>
        <p:spPr>
          <a:xfrm>
            <a:off x="6038200" y="4650000"/>
            <a:ext cx="2400000" cy="500000"/>
          </a:xfrm>
          <a:prstGeom prst="roundRect">
            <a:avLst>
              <a:gd name="adj" fmla="val 30000"/>
            </a:avLst>
          </a:prstGeom>
          <a:solidFill>
            <a:srgbClr val="EAF3FB"/>
          </a:solidFill>
          <a:ln w="19050">
            <a:solidFill>
              <a:srgbClr val="0070C0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IN" sz="1600" dirty="0">
                <a:solidFill>
                  <a:srgbClr val="0070C0"/>
                </a:solidFill>
              </a:rPr>
              <a:t>Search + filters</a:t>
            </a:r>
          </a:p>
        </p:txBody>
      </p:sp>
      <p:sp>
        <p:nvSpPr>
          <p:cNvPr id="213" name="Module 4"/>
          <p:cNvSpPr/>
          <p:nvPr/>
        </p:nvSpPr>
        <p:spPr>
          <a:xfrm>
            <a:off x="8638200" y="4650000"/>
            <a:ext cx="2400000" cy="500000"/>
          </a:xfrm>
          <a:prstGeom prst="roundRect">
            <a:avLst>
              <a:gd name="adj" fmla="val 30000"/>
            </a:avLst>
          </a:prstGeom>
          <a:solidFill>
            <a:srgbClr val="EAF3FB"/>
          </a:solidFill>
          <a:ln w="19050">
            <a:solidFill>
              <a:srgbClr val="0070C0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IN" sz="1600" dirty="0">
                <a:solidFill>
                  <a:srgbClr val="0070C0"/>
                </a:solidFill>
              </a:rPr>
              <a:t>Scholarship cards</a:t>
            </a:r>
          </a:p>
        </p:txBody>
      </p:sp>
      <p:sp>
        <p:nvSpPr>
          <p:cNvPr id="214" name="Module 5"/>
          <p:cNvSpPr/>
          <p:nvPr/>
        </p:nvSpPr>
        <p:spPr>
          <a:xfrm>
            <a:off x="838200" y="5270000"/>
            <a:ext cx="2400000" cy="500000"/>
          </a:xfrm>
          <a:prstGeom prst="roundRect">
            <a:avLst>
              <a:gd name="adj" fmla="val 30000"/>
            </a:avLst>
          </a:prstGeom>
          <a:solidFill>
            <a:srgbClr val="EAF3FB"/>
          </a:solidFill>
          <a:ln w="19050">
            <a:solidFill>
              <a:srgbClr val="0070C0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IN" sz="1600" dirty="0">
                <a:solidFill>
                  <a:srgbClr val="0070C0"/>
                </a:solidFill>
              </a:rPr>
              <a:t>Save button</a:t>
            </a:r>
          </a:p>
        </p:txBody>
      </p:sp>
      <p:sp>
        <p:nvSpPr>
          <p:cNvPr id="215" name="Module 6"/>
          <p:cNvSpPr/>
          <p:nvPr/>
        </p:nvSpPr>
        <p:spPr>
          <a:xfrm>
            <a:off x="3438200" y="5270000"/>
            <a:ext cx="2400000" cy="500000"/>
          </a:xfrm>
          <a:prstGeom prst="roundRect">
            <a:avLst>
              <a:gd name="adj" fmla="val 30000"/>
            </a:avLst>
          </a:prstGeom>
          <a:solidFill>
            <a:srgbClr val="EAF3FB"/>
          </a:solidFill>
          <a:ln w="19050">
            <a:solidFill>
              <a:srgbClr val="0070C0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IN" sz="1600" dirty="0">
                <a:solidFill>
                  <a:srgbClr val="0070C0"/>
                </a:solidFill>
              </a:rPr>
              <a:t>Eligibility finder</a:t>
            </a:r>
          </a:p>
        </p:txBody>
      </p:sp>
      <p:sp>
        <p:nvSpPr>
          <p:cNvPr id="216" name="Module 7"/>
          <p:cNvSpPr/>
          <p:nvPr/>
        </p:nvSpPr>
        <p:spPr>
          <a:xfrm>
            <a:off x="6038200" y="5270000"/>
            <a:ext cx="2400000" cy="500000"/>
          </a:xfrm>
          <a:prstGeom prst="roundRect">
            <a:avLst>
              <a:gd name="adj" fmla="val 30000"/>
            </a:avLst>
          </a:prstGeom>
          <a:solidFill>
            <a:srgbClr val="EAF3FB"/>
          </a:solidFill>
          <a:ln w="19050">
            <a:solidFill>
              <a:srgbClr val="0070C0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IN" sz="1600" dirty="0">
                <a:solidFill>
                  <a:srgbClr val="0070C0"/>
                </a:solidFill>
              </a:rPr>
              <a:t>Three-step guide</a:t>
            </a:r>
          </a:p>
        </p:txBody>
      </p:sp>
      <p:sp>
        <p:nvSpPr>
          <p:cNvPr id="217" name="Module 8"/>
          <p:cNvSpPr/>
          <p:nvPr/>
        </p:nvSpPr>
        <p:spPr>
          <a:xfrm>
            <a:off x="8638200" y="5270000"/>
            <a:ext cx="2400000" cy="500000"/>
          </a:xfrm>
          <a:prstGeom prst="roundRect">
            <a:avLst>
              <a:gd name="adj" fmla="val 30000"/>
            </a:avLst>
          </a:prstGeom>
          <a:solidFill>
            <a:srgbClr val="EAF3FB"/>
          </a:solidFill>
          <a:ln w="19050">
            <a:solidFill>
              <a:srgbClr val="0070C0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IN" sz="1600" dirty="0">
                <a:solidFill>
                  <a:srgbClr val="0070C0"/>
                </a:solidFill>
              </a:rPr>
              <a:t>Reminder tip</a:t>
            </a:r>
          </a:p>
        </p:txBody>
      </p:sp>
    </p:spTree>
    <p:extLst>
      <p:ext uri="{BB962C8B-B14F-4D97-AF65-F5344CB8AC3E}">
        <p14:creationId xmlns:p14="http://schemas.microsoft.com/office/powerpoint/2010/main" val="4108921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6DC0FF6-0332-E298-C14C-D4878B1AE16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8935192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>
                <a:solidFill>
                  <a:srgbClr val="0070C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Expected Outcomes</a:t>
            </a:r>
            <a:endParaRPr lang="en-IN" dirty="0">
              <a:solidFill>
                <a:srgbClr val="0070C0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3519C0E-FFCC-0990-C48A-1C1CC2AC67CC}"/>
              </a:ext>
            </a:extLst>
          </p:cNvPr>
          <p:cNvSpPr txBox="1">
            <a:spLocks/>
          </p:cNvSpPr>
          <p:nvPr/>
        </p:nvSpPr>
        <p:spPr>
          <a:xfrm>
            <a:off x="933450" y="1501775"/>
            <a:ext cx="9540834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600" dirty="0"/>
              <a:t>The page lists scholarship cards and shows a live count, such as “Showing 5 opportunities”.</a:t>
            </a:r>
          </a:p>
          <a:p>
            <a:r>
              <a:rPr lang="en-IN" sz="2600" dirty="0"/>
              <a:t>Example: Undergraduate + Need-based shows 5 matching cards, and Save turns into Saved.</a:t>
            </a:r>
          </a:p>
          <a:p>
            <a:r>
              <a:rPr lang="en-IN" sz="2600" dirty="0"/>
              <a:t>It helps students save time, keep options organised and reach the official portal to apply.</a:t>
            </a:r>
          </a:p>
        </p:txBody>
      </p:sp>
    </p:spTree>
    <p:extLst>
      <p:ext uri="{BB962C8B-B14F-4D97-AF65-F5344CB8AC3E}">
        <p14:creationId xmlns:p14="http://schemas.microsoft.com/office/powerpoint/2010/main" val="1758584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48FC4AB-4ABE-8A2A-A350-B517E728B8A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8935192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>
                <a:solidFill>
                  <a:srgbClr val="0070C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Real-world Applications</a:t>
            </a:r>
            <a:endParaRPr lang="en-IN" dirty="0">
              <a:solidFill>
                <a:srgbClr val="0070C0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0ED5739-157A-E036-89AA-F1A6012AD6F9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9540834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600" b="1" dirty="0">
                <a:solidFill>
                  <a:srgbClr val="0070C0"/>
                </a:solidFill>
              </a:rPr>
              <a:t>Practical use: </a:t>
            </a:r>
            <a:r>
              <a:rPr lang="en-IN" sz="2600" dirty="0"/>
              <a:t>a scholarship help page for schools, colleges and counselling centres.</a:t>
            </a:r>
          </a:p>
          <a:p>
            <a:r>
              <a:rPr lang="en-IN" sz="2600" b="1" dirty="0">
                <a:solidFill>
                  <a:srgbClr val="0070C0"/>
                </a:solidFill>
              </a:rPr>
              <a:t>Who can benefit: </a:t>
            </a:r>
            <a:r>
              <a:rPr lang="en-IN" sz="2600" dirty="0"/>
              <a:t>school, undergraduate and postgraduate students and their parents.</a:t>
            </a:r>
          </a:p>
          <a:p>
            <a:r>
              <a:rPr lang="en-IN" sz="2600" b="1" dirty="0">
                <a:solidFill>
                  <a:srgbClr val="0070C0"/>
                </a:solidFill>
              </a:rPr>
              <a:t>Community use: </a:t>
            </a:r>
            <a:r>
              <a:rPr lang="en-IN" sz="2600" dirty="0"/>
              <a:t>NGOs and college scholarship cells can guide students to official portals.</a:t>
            </a:r>
          </a:p>
        </p:txBody>
      </p:sp>
    </p:spTree>
    <p:extLst>
      <p:ext uri="{BB962C8B-B14F-4D97-AF65-F5344CB8AC3E}">
        <p14:creationId xmlns:p14="http://schemas.microsoft.com/office/powerpoint/2010/main" val="442868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730628-8A08-3E90-8452-F925B17A564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8935192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>
                <a:solidFill>
                  <a:srgbClr val="0070C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Challenges Faced</a:t>
            </a:r>
            <a:endParaRPr lang="en-IN" b="1" dirty="0">
              <a:solidFill>
                <a:srgbClr val="0070C0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B11FC91-77FD-FD6F-84BD-A8EF915A1DBF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9540834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600" b="1" dirty="0">
                <a:solidFill>
                  <a:srgbClr val="0070C0"/>
                </a:solidFill>
              </a:rPr>
              <a:t>Using search, level and category together: </a:t>
            </a:r>
            <a:r>
              <a:rPr lang="en-IN" sz="2600" dirty="0"/>
              <a:t>one function checks all three for every card.</a:t>
            </a:r>
          </a:p>
          <a:p>
            <a:r>
              <a:rPr lang="en-IN" sz="2600" b="1" dirty="0">
                <a:solidFill>
                  <a:srgbClr val="0070C0"/>
                </a:solidFill>
              </a:rPr>
              <a:t>Neat layout on phone and laptop: </a:t>
            </a:r>
            <a:r>
              <a:rPr lang="en-IN" sz="2600" dirty="0"/>
              <a:t>CSS Grid, Flexbox and media queries.</a:t>
            </a:r>
          </a:p>
          <a:p>
            <a:r>
              <a:rPr lang="en-IN" sz="2600" b="1" dirty="0">
                <a:solidFill>
                  <a:srgbClr val="0070C0"/>
                </a:solidFill>
              </a:rPr>
              <a:t>Scholarship details change often: </a:t>
            </a:r>
            <a:r>
              <a:rPr lang="en-IN" sz="2600" dirty="0"/>
              <a:t>official links and “check current notice” labels.</a:t>
            </a:r>
          </a:p>
          <a:p>
            <a:r>
              <a:rPr lang="en-IN" sz="2600" b="1" dirty="0">
                <a:solidFill>
                  <a:srgbClr val="0070C0"/>
                </a:solidFill>
              </a:rPr>
              <a:t>Learning: </a:t>
            </a:r>
            <a:r>
              <a:rPr lang="en-IN" sz="2600" dirty="0"/>
              <a:t>JavaScript events can update the page instantly, without reloading.</a:t>
            </a:r>
          </a:p>
        </p:txBody>
      </p:sp>
    </p:spTree>
    <p:extLst>
      <p:ext uri="{BB962C8B-B14F-4D97-AF65-F5344CB8AC3E}">
        <p14:creationId xmlns:p14="http://schemas.microsoft.com/office/powerpoint/2010/main" val="1289559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2FBF398-6C86-051A-39C8-55DA40C954F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8935192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>
                <a:solidFill>
                  <a:srgbClr val="0070C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Results / Demo Screenshots</a:t>
            </a:r>
            <a:endParaRPr lang="en-IN" dirty="0">
              <a:solidFill>
                <a:srgbClr val="0070C0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5688BE2-DBF5-953A-2787-C6F0FD0EBF3D}"/>
              </a:ext>
            </a:extLst>
          </p:cNvPr>
          <p:cNvSpPr txBox="1">
            <a:spLocks/>
          </p:cNvSpPr>
          <p:nvPr/>
        </p:nvSpPr>
        <p:spPr>
          <a:xfrm>
            <a:off x="838200" y="1700000"/>
            <a:ext cx="100000" cy="100000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dirty="0"/>
          </a:p>
        </p:txBody>
      </p:sp>
      <p:pic>
        <p:nvPicPr>
          <p:cNvPr id="218" name="Screenshot home page" descr="Screenshot: ScholarBridge home p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00" y="1600000"/>
            <a:ext cx="5350000" cy="3007889"/>
          </a:xfrm>
          <a:prstGeom prst="rect">
            <a:avLst/>
          </a:prstGeom>
          <a:ln w="12700">
            <a:solidFill>
              <a:srgbClr val="9FB4C9"/>
            </a:solidFill>
          </a:ln>
        </p:spPr>
      </p:pic>
      <p:pic>
        <p:nvPicPr>
          <p:cNvPr id="219" name="Screenshot search and filters" descr="Screenshot: search, filters and scholarship card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000" y="1600000"/>
            <a:ext cx="5350000" cy="3007889"/>
          </a:xfrm>
          <a:prstGeom prst="rect">
            <a:avLst/>
          </a:prstGeom>
          <a:ln w="12700">
            <a:solidFill>
              <a:srgbClr val="9FB4C9"/>
            </a:solidFill>
          </a:ln>
        </p:spPr>
      </p:pic>
      <p:sp>
        <p:nvSpPr>
          <p:cNvPr id="220" name="Caption home"/>
          <p:cNvSpPr txBox="1"/>
          <p:nvPr/>
        </p:nvSpPr>
        <p:spPr>
          <a:xfrm>
            <a:off x="700000" y="4727889"/>
            <a:ext cx="5350000" cy="9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IN" sz="1800" b="1" dirty="0">
                <a:solidFill>
                  <a:srgbClr val="0070C0"/>
                </a:solidFill>
              </a:rPr>
              <a:t>Home page</a:t>
            </a:r>
          </a:p>
          <a:p>
            <a:pPr marL="0" indent="0">
              <a:buNone/>
            </a:pPr>
            <a:r>
              <a:rPr lang="en-IN" sz="1600" dirty="0"/>
              <a:t>Top bar, navigation, hero buttons and three highlight cards.</a:t>
            </a:r>
          </a:p>
        </p:txBody>
      </p:sp>
      <p:sp>
        <p:nvSpPr>
          <p:cNvPr id="221" name="Caption filters"/>
          <p:cNvSpPr txBox="1"/>
          <p:nvPr/>
        </p:nvSpPr>
        <p:spPr>
          <a:xfrm>
            <a:off x="6300000" y="4727889"/>
            <a:ext cx="5350000" cy="9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IN" sz="1800" b="1" dirty="0">
                <a:solidFill>
                  <a:srgbClr val="0070C0"/>
                </a:solidFill>
              </a:rPr>
              <a:t>Search and filters</a:t>
            </a:r>
          </a:p>
          <a:p>
            <a:pPr marL="0" indent="0">
              <a:buNone/>
            </a:pPr>
            <a:r>
              <a:rPr lang="en-IN" sz="1600" dirty="0"/>
              <a:t>Undergraduate + Need-based gives 5 results; one card is saved.</a:t>
            </a:r>
          </a:p>
        </p:txBody>
      </p:sp>
    </p:spTree>
    <p:extLst>
      <p:ext uri="{BB962C8B-B14F-4D97-AF65-F5344CB8AC3E}">
        <p14:creationId xmlns:p14="http://schemas.microsoft.com/office/powerpoint/2010/main" val="1629951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2FBF398-6C86-051A-39C8-55DA40C954F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8935192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>
                <a:solidFill>
                  <a:srgbClr val="0070C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Results / Demo Screenshots</a:t>
            </a:r>
            <a:endParaRPr lang="en-IN" dirty="0">
              <a:solidFill>
                <a:srgbClr val="0070C0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5688BE2-DBF5-953A-2787-C6F0FD0EBF3D}"/>
              </a:ext>
            </a:extLst>
          </p:cNvPr>
          <p:cNvSpPr txBox="1">
            <a:spLocks/>
          </p:cNvSpPr>
          <p:nvPr/>
        </p:nvSpPr>
        <p:spPr>
          <a:xfrm>
            <a:off x="838200" y="1700000"/>
            <a:ext cx="100000" cy="100000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dirty="0"/>
          </a:p>
        </p:txBody>
      </p:sp>
      <p:pic>
        <p:nvPicPr>
          <p:cNvPr id="222" name="Screenshot eligibility finder" descr="Screenshot: eligibility finder with result mess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50000"/>
            <a:ext cx="10300000" cy="2271722"/>
          </a:xfrm>
          <a:prstGeom prst="rect">
            <a:avLst/>
          </a:prstGeom>
          <a:ln w="12700">
            <a:solidFill>
              <a:srgbClr val="9FB4C9"/>
            </a:solidFill>
          </a:ln>
        </p:spPr>
      </p:pic>
      <p:sp>
        <p:nvSpPr>
          <p:cNvPr id="223" name="Caption eligibility"/>
          <p:cNvSpPr txBox="1"/>
          <p:nvPr/>
        </p:nvSpPr>
        <p:spPr>
          <a:xfrm>
            <a:off x="838200" y="3911722"/>
            <a:ext cx="10300000" cy="4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IN" sz="1600" b="1" dirty="0">
                <a:solidFill>
                  <a:srgbClr val="0070C0"/>
                </a:solidFill>
              </a:rPr>
              <a:t>Eligibility finder: </a:t>
            </a:r>
            <a:r>
              <a:rPr lang="en-IN" sz="1600" dirty="0"/>
              <a:t>choose a study level and a need, then the cards are filtered automatically.</a:t>
            </a:r>
          </a:p>
        </p:txBody>
      </p:sp>
      <p:pic>
        <p:nvPicPr>
          <p:cNvPr id="224" name="Screenshot steps and reminder" descr="Screenshot: three steps, reminder tip and foo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421722"/>
            <a:ext cx="4300000" cy="1968444"/>
          </a:xfrm>
          <a:prstGeom prst="rect">
            <a:avLst/>
          </a:prstGeom>
          <a:ln w="12700">
            <a:solidFill>
              <a:srgbClr val="9FB4C9"/>
            </a:solidFill>
          </a:ln>
        </p:spPr>
      </p:pic>
      <p:sp>
        <p:nvSpPr>
          <p:cNvPr id="225" name="Caption steps"/>
          <p:cNvSpPr txBox="1"/>
          <p:nvPr/>
        </p:nvSpPr>
        <p:spPr>
          <a:xfrm>
            <a:off x="5400000" y="4521722"/>
            <a:ext cx="6000000" cy="18684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IN" sz="1800" b="1" dirty="0">
                <a:solidFill>
                  <a:srgbClr val="0070C0"/>
                </a:solidFill>
              </a:rPr>
              <a:t>Steps, reminder and footer</a:t>
            </a:r>
          </a:p>
          <a:p>
            <a:pPr marL="285750" indent="-285750">
              <a:buFont typeface="Arial"/>
              <a:buChar char="•"/>
            </a:pPr>
            <a:r>
              <a:rPr lang="en-IN" sz="1600" dirty="0"/>
              <a:t>Discover, Review and Apply guide.</a:t>
            </a:r>
          </a:p>
          <a:p>
            <a:pPr marL="285750" indent="-285750">
              <a:buFont typeface="Arial"/>
              <a:buChar char="•"/>
            </a:pPr>
            <a:r>
              <a:rPr lang="en-IN" sz="1600" dirty="0"/>
              <a:t>Reminder tip opens and closes on click.</a:t>
            </a:r>
          </a:p>
          <a:p>
            <a:pPr marL="285750" indent="-285750">
              <a:buFont typeface="Arial"/>
              <a:buChar char="•"/>
            </a:pPr>
            <a:r>
              <a:rPr lang="en-IN" sz="1600" dirty="0"/>
              <a:t>Footer links to the National Scholarship Portal.</a:t>
            </a:r>
          </a:p>
        </p:txBody>
      </p:sp>
    </p:spTree>
    <p:extLst>
      <p:ext uri="{BB962C8B-B14F-4D97-AF65-F5344CB8AC3E}">
        <p14:creationId xmlns:p14="http://schemas.microsoft.com/office/powerpoint/2010/main" val="1629951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DC607B-AC86-CE5E-E456-82A30153F60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8935192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>
                <a:solidFill>
                  <a:srgbClr val="0070C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Future Scope</a:t>
            </a:r>
            <a:endParaRPr lang="en-IN" b="1" dirty="0">
              <a:solidFill>
                <a:srgbClr val="0070C0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B27FE5A-AE56-3CC6-1D0B-082261D9654F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9540834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600" dirty="0"/>
              <a:t>Use a real scholarship database with up-to-date amounts and deadlines.</a:t>
            </a:r>
          </a:p>
          <a:p>
            <a:r>
              <a:rPr lang="en-IN" sz="2600" dirty="0"/>
              <a:t>Add a student login so saved scholarships stay after the page is refreshed.</a:t>
            </a:r>
          </a:p>
          <a:p>
            <a:r>
              <a:rPr lang="en-IN" sz="2600" dirty="0"/>
              <a:t>Send calendar or email reminders before deadlines.</a:t>
            </a:r>
          </a:p>
          <a:p>
            <a:r>
              <a:rPr lang="en-IN" sz="2600" dirty="0"/>
              <a:t>Add more filters (state, income, gender) and regional language support.</a:t>
            </a:r>
          </a:p>
        </p:txBody>
      </p:sp>
    </p:spTree>
    <p:extLst>
      <p:ext uri="{BB962C8B-B14F-4D97-AF65-F5344CB8AC3E}">
        <p14:creationId xmlns:p14="http://schemas.microsoft.com/office/powerpoint/2010/main" val="4255405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CE7B91E-05F8-D179-F80C-D9E70831002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8935192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>
                <a:solidFill>
                  <a:srgbClr val="0070C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Team Contributions</a:t>
            </a:r>
            <a:endParaRPr lang="en-IN" dirty="0">
              <a:solidFill>
                <a:srgbClr val="0070C0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032DA85-129A-DFD9-AFDF-BC062B73F8D5}"/>
              </a:ext>
            </a:extLst>
          </p:cNvPr>
          <p:cNvSpPr txBox="1">
            <a:spLocks/>
          </p:cNvSpPr>
          <p:nvPr/>
        </p:nvSpPr>
        <p:spPr>
          <a:xfrm>
            <a:off x="838200" y="1700000"/>
            <a:ext cx="100000" cy="100000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226" name="Team contribution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4945459"/>
              </p:ext>
            </p:extLst>
          </p:nvPr>
        </p:nvGraphicFramePr>
        <p:xfrm>
          <a:off x="838200" y="1750000"/>
          <a:ext cx="10540000" cy="3780000"/>
        </p:xfrm>
        <a:graphic>
          <a:graphicData uri="http://schemas.openxmlformats.org/drawingml/2006/table">
            <a:tbl>
              <a:tblPr firstRow="1" bandRow="1"/>
              <a:tblGrid>
                <a:gridCol w="2900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640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r>
                        <a:rPr lang="en-IN" sz="1800" b="1" dirty="0">
                          <a:solidFill>
                            <a:srgbClr val="FFFFFF"/>
                          </a:solidFill>
                        </a:rPr>
                        <a:t>Member</a:t>
                      </a:r>
                    </a:p>
                  </a:txBody>
                  <a:tcPr anchor="ctr">
                    <a:lnL w="12700">
                      <a:solidFill>
                        <a:srgbClr val="9FC5E8"/>
                      </a:solidFill>
                    </a:lnL>
                    <a:lnR w="12700">
                      <a:solidFill>
                        <a:srgbClr val="9FC5E8"/>
                      </a:solidFill>
                    </a:lnR>
                    <a:lnT w="12700">
                      <a:solidFill>
                        <a:srgbClr val="9FC5E8"/>
                      </a:solidFill>
                    </a:lnT>
                    <a:lnB w="12700">
                      <a:solidFill>
                        <a:srgbClr val="9FC5E8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solidFill>
                            <a:srgbClr val="FFFFFF"/>
                          </a:solidFill>
                        </a:rPr>
                        <a:t>Role / Work Done</a:t>
                      </a:r>
                    </a:p>
                  </a:txBody>
                  <a:tcPr anchor="ctr">
                    <a:lnL w="12700">
                      <a:solidFill>
                        <a:srgbClr val="9FC5E8"/>
                      </a:solidFill>
                    </a:lnL>
                    <a:lnR w="12700">
                      <a:solidFill>
                        <a:srgbClr val="9FC5E8"/>
                      </a:solidFill>
                    </a:lnR>
                    <a:lnT w="12700">
                      <a:solidFill>
                        <a:srgbClr val="9FC5E8"/>
                      </a:solidFill>
                    </a:lnT>
                    <a:lnB w="12700">
                      <a:solidFill>
                        <a:srgbClr val="9FC5E8"/>
                      </a:solidFill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en-US" sz="1800" dirty="0" err="1" smtClean="0">
                          <a:solidFill>
                            <a:srgbClr val="1D2B3A"/>
                          </a:solidFill>
                        </a:rPr>
                        <a:t>Madhur</a:t>
                      </a:r>
                      <a:r>
                        <a:rPr lang="en-US" sz="1800" dirty="0" smtClean="0">
                          <a:solidFill>
                            <a:srgbClr val="1D2B3A"/>
                          </a:solidFill>
                        </a:rPr>
                        <a:t> Sanjay S</a:t>
                      </a:r>
                      <a:endParaRPr lang="en-IN" sz="1800" dirty="0">
                        <a:solidFill>
                          <a:srgbClr val="1D2B3A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rgbClr val="9FC5E8"/>
                      </a:solidFill>
                    </a:lnL>
                    <a:lnR w="12700">
                      <a:solidFill>
                        <a:srgbClr val="9FC5E8"/>
                      </a:solidFill>
                    </a:lnR>
                    <a:lnT w="12700">
                      <a:solidFill>
                        <a:srgbClr val="9FC5E8"/>
                      </a:solidFill>
                    </a:lnT>
                    <a:lnB w="12700">
                      <a:solidFill>
                        <a:srgbClr val="9FC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rgbClr val="1D2B3A"/>
                          </a:solidFill>
                        </a:rPr>
                        <a:t>HTML structure: header, hero, sections and footer</a:t>
                      </a:r>
                    </a:p>
                  </a:txBody>
                  <a:tcPr anchor="ctr">
                    <a:lnL w="12700">
                      <a:solidFill>
                        <a:srgbClr val="9FC5E8"/>
                      </a:solidFill>
                    </a:lnL>
                    <a:lnR w="12700">
                      <a:solidFill>
                        <a:srgbClr val="9FC5E8"/>
                      </a:solidFill>
                    </a:lnR>
                    <a:lnT w="12700">
                      <a:solidFill>
                        <a:srgbClr val="9FC5E8"/>
                      </a:solidFill>
                    </a:lnT>
                    <a:lnB w="12700">
                      <a:solidFill>
                        <a:srgbClr val="9FC5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en-US" sz="1800" dirty="0" err="1" smtClean="0">
                          <a:solidFill>
                            <a:srgbClr val="1D2B3A"/>
                          </a:solidFill>
                        </a:rPr>
                        <a:t>Mihir</a:t>
                      </a:r>
                      <a:r>
                        <a:rPr lang="en-US" sz="1800" dirty="0" smtClean="0">
                          <a:solidFill>
                            <a:srgbClr val="1D2B3A"/>
                          </a:solidFill>
                        </a:rPr>
                        <a:t> Kiran K</a:t>
                      </a:r>
                      <a:endParaRPr lang="en-IN" sz="1800" dirty="0">
                        <a:solidFill>
                          <a:srgbClr val="1D2B3A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rgbClr val="9FC5E8"/>
                      </a:solidFill>
                    </a:lnL>
                    <a:lnR w="12700">
                      <a:solidFill>
                        <a:srgbClr val="9FC5E8"/>
                      </a:solidFill>
                    </a:lnR>
                    <a:lnT w="12700">
                      <a:solidFill>
                        <a:srgbClr val="9FC5E8"/>
                      </a:solidFill>
                    </a:lnT>
                    <a:lnB w="12700">
                      <a:solidFill>
                        <a:srgbClr val="9FC5E8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rgbClr val="1D2B3A"/>
                          </a:solidFill>
                        </a:rPr>
                        <a:t>CSS: layout with Grid and Flexbox, colours, responsive design</a:t>
                      </a:r>
                    </a:p>
                  </a:txBody>
                  <a:tcPr anchor="ctr">
                    <a:lnL w="12700">
                      <a:solidFill>
                        <a:srgbClr val="9FC5E8"/>
                      </a:solidFill>
                    </a:lnL>
                    <a:lnR w="12700">
                      <a:solidFill>
                        <a:srgbClr val="9FC5E8"/>
                      </a:solidFill>
                    </a:lnR>
                    <a:lnT w="12700">
                      <a:solidFill>
                        <a:srgbClr val="9FC5E8"/>
                      </a:solidFill>
                    </a:lnT>
                    <a:lnB w="12700">
                      <a:solidFill>
                        <a:srgbClr val="9FC5E8"/>
                      </a:solidFill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en-US" sz="1800" dirty="0" err="1" smtClean="0">
                          <a:solidFill>
                            <a:srgbClr val="1D2B3A"/>
                          </a:solidFill>
                        </a:rPr>
                        <a:t>Monisha</a:t>
                      </a:r>
                      <a:r>
                        <a:rPr lang="en-US" sz="1800" dirty="0" smtClean="0">
                          <a:solidFill>
                            <a:srgbClr val="1D2B3A"/>
                          </a:solidFill>
                        </a:rPr>
                        <a:t> Bobby J</a:t>
                      </a:r>
                      <a:endParaRPr lang="en-IN" sz="1800" dirty="0">
                        <a:solidFill>
                          <a:srgbClr val="1D2B3A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rgbClr val="9FC5E8"/>
                      </a:solidFill>
                    </a:lnL>
                    <a:lnR w="12700">
                      <a:solidFill>
                        <a:srgbClr val="9FC5E8"/>
                      </a:solidFill>
                    </a:lnR>
                    <a:lnT w="12700">
                      <a:solidFill>
                        <a:srgbClr val="9FC5E8"/>
                      </a:solidFill>
                    </a:lnT>
                    <a:lnB w="12700">
                      <a:solidFill>
                        <a:srgbClr val="9FC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rgbClr val="1D2B3A"/>
                          </a:solidFill>
                        </a:rPr>
                        <a:t>JavaScript: search, filters and result count</a:t>
                      </a:r>
                    </a:p>
                  </a:txBody>
                  <a:tcPr anchor="ctr">
                    <a:lnL w="12700">
                      <a:solidFill>
                        <a:srgbClr val="9FC5E8"/>
                      </a:solidFill>
                    </a:lnL>
                    <a:lnR w="12700">
                      <a:solidFill>
                        <a:srgbClr val="9FC5E8"/>
                      </a:solidFill>
                    </a:lnR>
                    <a:lnT w="12700">
                      <a:solidFill>
                        <a:srgbClr val="9FC5E8"/>
                      </a:solidFill>
                    </a:lnT>
                    <a:lnB w="12700">
                      <a:solidFill>
                        <a:srgbClr val="9FC5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en-US" sz="1800" dirty="0" err="1" smtClean="0">
                          <a:solidFill>
                            <a:srgbClr val="1D2B3A"/>
                          </a:solidFill>
                        </a:rPr>
                        <a:t>Nishandhan</a:t>
                      </a:r>
                      <a:r>
                        <a:rPr lang="en-US" sz="1800" dirty="0" smtClean="0">
                          <a:solidFill>
                            <a:srgbClr val="1D2B3A"/>
                          </a:solidFill>
                        </a:rPr>
                        <a:t> P S</a:t>
                      </a:r>
                      <a:endParaRPr lang="en-IN" sz="1800" dirty="0">
                        <a:solidFill>
                          <a:srgbClr val="1D2B3A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rgbClr val="9FC5E8"/>
                      </a:solidFill>
                    </a:lnL>
                    <a:lnR w="12700">
                      <a:solidFill>
                        <a:srgbClr val="9FC5E8"/>
                      </a:solidFill>
                    </a:lnR>
                    <a:lnT w="12700">
                      <a:solidFill>
                        <a:srgbClr val="9FC5E8"/>
                      </a:solidFill>
                    </a:lnT>
                    <a:lnB w="12700">
                      <a:solidFill>
                        <a:srgbClr val="9FC5E8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rgbClr val="1D2B3A"/>
                          </a:solidFill>
                        </a:rPr>
                        <a:t>Save button and eligibility finder form</a:t>
                      </a:r>
                    </a:p>
                  </a:txBody>
                  <a:tcPr anchor="ctr">
                    <a:lnL w="12700">
                      <a:solidFill>
                        <a:srgbClr val="9FC5E8"/>
                      </a:solidFill>
                    </a:lnL>
                    <a:lnR w="12700">
                      <a:solidFill>
                        <a:srgbClr val="9FC5E8"/>
                      </a:solidFill>
                    </a:lnR>
                    <a:lnT w="12700">
                      <a:solidFill>
                        <a:srgbClr val="9FC5E8"/>
                      </a:solidFill>
                    </a:lnT>
                    <a:lnB w="12700">
                      <a:solidFill>
                        <a:srgbClr val="9FC5E8"/>
                      </a:solidFill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1D2B3A"/>
                          </a:solidFill>
                        </a:rPr>
                        <a:t>Pooja S</a:t>
                      </a:r>
                      <a:endParaRPr lang="en-IN" sz="1800" dirty="0">
                        <a:solidFill>
                          <a:srgbClr val="1D2B3A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rgbClr val="9FC5E8"/>
                      </a:solidFill>
                    </a:lnL>
                    <a:lnR w="12700">
                      <a:solidFill>
                        <a:srgbClr val="9FC5E8"/>
                      </a:solidFill>
                    </a:lnR>
                    <a:lnT w="12700">
                      <a:solidFill>
                        <a:srgbClr val="9FC5E8"/>
                      </a:solidFill>
                    </a:lnT>
                    <a:lnB w="12700">
                      <a:solidFill>
                        <a:srgbClr val="9FC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rgbClr val="1D2B3A"/>
                          </a:solidFill>
                        </a:rPr>
                        <a:t>Scholarship content, official links and testing</a:t>
                      </a:r>
                    </a:p>
                  </a:txBody>
                  <a:tcPr anchor="ctr">
                    <a:lnL w="12700">
                      <a:solidFill>
                        <a:srgbClr val="9FC5E8"/>
                      </a:solidFill>
                    </a:lnL>
                    <a:lnR w="12700">
                      <a:solidFill>
                        <a:srgbClr val="9FC5E8"/>
                      </a:solidFill>
                    </a:lnR>
                    <a:lnT w="12700">
                      <a:solidFill>
                        <a:srgbClr val="9FC5E8"/>
                      </a:solidFill>
                    </a:lnT>
                    <a:lnB w="12700">
                      <a:solidFill>
                        <a:srgbClr val="9FC5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en-US" sz="1800" dirty="0" err="1" smtClean="0">
                          <a:solidFill>
                            <a:srgbClr val="1D2B3A"/>
                          </a:solidFill>
                        </a:rPr>
                        <a:t>Nethra</a:t>
                      </a:r>
                      <a:r>
                        <a:rPr lang="en-US" sz="1800" dirty="0" smtClean="0">
                          <a:solidFill>
                            <a:srgbClr val="1D2B3A"/>
                          </a:solidFill>
                        </a:rPr>
                        <a:t> </a:t>
                      </a:r>
                      <a:r>
                        <a:rPr lang="en-US" sz="1800" dirty="0" err="1" smtClean="0">
                          <a:solidFill>
                            <a:srgbClr val="1D2B3A"/>
                          </a:solidFill>
                        </a:rPr>
                        <a:t>Sabhanayagam</a:t>
                      </a:r>
                      <a:endParaRPr lang="en-IN" sz="1800" dirty="0">
                        <a:solidFill>
                          <a:srgbClr val="1D2B3A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rgbClr val="9FC5E8"/>
                      </a:solidFill>
                    </a:lnL>
                    <a:lnR w="12700">
                      <a:solidFill>
                        <a:srgbClr val="9FC5E8"/>
                      </a:solidFill>
                    </a:lnR>
                    <a:lnT w="12700">
                      <a:solidFill>
                        <a:srgbClr val="9FC5E8"/>
                      </a:solidFill>
                    </a:lnT>
                    <a:lnB w="12700">
                      <a:solidFill>
                        <a:srgbClr val="9FC5E8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rgbClr val="1D2B3A"/>
                          </a:solidFill>
                        </a:rPr>
                        <a:t>Screenshots, PPT and documentation</a:t>
                      </a:r>
                    </a:p>
                  </a:txBody>
                  <a:tcPr anchor="ctr">
                    <a:lnL w="12700">
                      <a:solidFill>
                        <a:srgbClr val="9FC5E8"/>
                      </a:solidFill>
                    </a:lnL>
                    <a:lnR w="12700">
                      <a:solidFill>
                        <a:srgbClr val="9FC5E8"/>
                      </a:solidFill>
                    </a:lnR>
                    <a:lnT w="12700">
                      <a:solidFill>
                        <a:srgbClr val="9FC5E8"/>
                      </a:solidFill>
                    </a:lnT>
                    <a:lnB w="12700">
                      <a:solidFill>
                        <a:srgbClr val="9FC5E8"/>
                      </a:solidFill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2593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DFE7B87-B979-E771-47FE-B87D72CF50EE}"/>
              </a:ext>
            </a:extLst>
          </p:cNvPr>
          <p:cNvSpPr txBox="1">
            <a:spLocks/>
          </p:cNvSpPr>
          <p:nvPr/>
        </p:nvSpPr>
        <p:spPr>
          <a:xfrm>
            <a:off x="1212850" y="1214438"/>
            <a:ext cx="10515600" cy="285273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400" b="1" dirty="0">
                <a:solidFill>
                  <a:srgbClr val="0070C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Thank</a:t>
            </a:r>
            <a:r>
              <a:rPr lang="en-IN" sz="21500" b="1" dirty="0"/>
              <a:t> </a:t>
            </a:r>
            <a:r>
              <a:rPr lang="en-IN" sz="12400" b="1" dirty="0">
                <a:solidFill>
                  <a:srgbClr val="0070C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You!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1558C73-39EC-C8B6-A023-1766C73DD8B0}"/>
              </a:ext>
            </a:extLst>
          </p:cNvPr>
          <p:cNvSpPr txBox="1">
            <a:spLocks/>
          </p:cNvSpPr>
          <p:nvPr/>
        </p:nvSpPr>
        <p:spPr>
          <a:xfrm>
            <a:off x="307975" y="4770438"/>
            <a:ext cx="10515600" cy="15001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dirty="0" smtClean="0"/>
              <a:t> </a:t>
            </a:r>
            <a:endParaRPr lang="en-IN" sz="2400" dirty="0"/>
          </a:p>
          <a:p>
            <a:pPr marL="0" indent="0">
              <a:buNone/>
            </a:pPr>
            <a:r>
              <a:rPr lang="en-IN" sz="2000" dirty="0" smtClean="0"/>
              <a:t>     Questions </a:t>
            </a:r>
            <a:r>
              <a:rPr lang="en-IN" sz="2000" dirty="0"/>
              <a:t>are welcome. We are ready for a live demo.</a:t>
            </a:r>
          </a:p>
        </p:txBody>
      </p:sp>
    </p:spTree>
    <p:extLst>
      <p:ext uri="{BB962C8B-B14F-4D97-AF65-F5344CB8AC3E}">
        <p14:creationId xmlns:p14="http://schemas.microsoft.com/office/powerpoint/2010/main" val="1145204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717</Words>
  <Application>Microsoft Office PowerPoint</Application>
  <PresentationFormat>Custom</PresentationFormat>
  <Paragraphs>124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HOME</cp:lastModifiedBy>
  <cp:revision>14</cp:revision>
  <dcterms:created xsi:type="dcterms:W3CDTF">2026-10-22T08:46:08Z</dcterms:created>
  <dcterms:modified xsi:type="dcterms:W3CDTF">2026-10-28T13:14:40Z</dcterms:modified>
</cp:coreProperties>
</file>